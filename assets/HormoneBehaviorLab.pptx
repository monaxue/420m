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4" r:id="rId1"/>
  </p:sldMasterIdLst>
  <p:notesMasterIdLst>
    <p:notesMasterId r:id="rId14"/>
  </p:notesMasterIdLst>
  <p:sldIdLst>
    <p:sldId id="256" r:id="rId2"/>
    <p:sldId id="259" r:id="rId3"/>
    <p:sldId id="257" r:id="rId4"/>
    <p:sldId id="279" r:id="rId5"/>
    <p:sldId id="267" r:id="rId6"/>
    <p:sldId id="274" r:id="rId7"/>
    <p:sldId id="280" r:id="rId8"/>
    <p:sldId id="281" r:id="rId9"/>
    <p:sldId id="282" r:id="rId10"/>
    <p:sldId id="283" r:id="rId11"/>
    <p:sldId id="284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9"/>
    <p:restoredTop sz="72789"/>
  </p:normalViewPr>
  <p:slideViewPr>
    <p:cSldViewPr snapToGrid="0">
      <p:cViewPr varScale="1">
        <p:scale>
          <a:sx n="91" d="100"/>
          <a:sy n="91" d="100"/>
        </p:scale>
        <p:origin x="2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EDF73E-89B8-1248-9045-EBE7C29397EA}" type="datetimeFigureOut">
              <a:rPr lang="en-US" smtClean="0"/>
              <a:t>8/21/24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7EA8B8-DCD8-6645-9295-E7A3F26F41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6637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1848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76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939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ggplot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dat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aes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(y = approaches, x = hormone)) +</a:t>
            </a:r>
            <a:b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geom_boxplot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() +</a:t>
            </a:r>
            <a:b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geom_point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(position =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position_jitter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(width = 0.1, height = 0),</a:t>
            </a:r>
            <a:b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alpha = 0.2, color = "black", size = 2) +</a:t>
            </a:r>
            <a:b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</a:br>
            <a:r>
              <a:rPr lang="en-US" b="0" i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ylim</a:t>
            </a:r>
            <a:r>
              <a:rPr lang="en-US" b="0" i="0" dirty="0">
                <a:solidFill>
                  <a:srgbClr val="000000"/>
                </a:solidFill>
                <a:effectLst/>
                <a:latin typeface="Courier New" panose="02070309020205020404" pitchFamily="49" charset="0"/>
              </a:rPr>
              <a:t>(0, 12)</a:t>
            </a:r>
            <a:br>
              <a:rPr lang="en-US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</a:t>
            </a:r>
            <a:endParaRPr lang="en-US" b="0" i="0" dirty="0">
              <a:solidFill>
                <a:srgbClr val="000000"/>
              </a:solidFill>
              <a:effectLst/>
              <a:latin typeface="Lato" panose="020F0502020204030203" pitchFamily="34" charset="0"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799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666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code is very similar to that used to create the treatment vs control summary table!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629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A7EA8B8-DCD8-6645-9295-E7A3F26F4158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24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92C7F-3AB7-1BA0-79D2-27B241BB4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4622A8-9809-49F2-DB92-9180F9BD49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4CF1E-AE81-1DD1-5455-2AA9A258C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471FC-2EC6-DB7B-6721-6A75A3FF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75EA0-EED1-63C7-3911-651D3A11C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822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036B5-2061-CA0E-2AB5-D14F145AA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C6840-10C2-3E01-E5CF-D81ADE46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CD219-0FB8-6192-1EDF-4B3D96C5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C539E-6A51-03A7-B8AB-E25E137D6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0E63F-EA9F-6BE2-739E-35E1B0E31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2001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96FB4-BDAF-D760-7B97-37D20398A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4A2AE-80BC-EAFC-9956-92EF2D796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E3EEB-BE1A-5619-7AC0-4D7E4D804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54B2BD-23BC-0655-3CE3-B53ECCE23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5F04FC-7CC9-53D9-022B-62F71086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98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A496C-1401-3C62-C387-FA248B546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1D5BA-13C6-5C19-9FCD-E174487A7C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EC1A5E-B338-CB23-3902-4D4AFB94A1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AE6BA-BC2A-4A92-B013-7420021C2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206DA-7D96-7492-8D8C-95BA661A6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DF37D5-A6BF-81B4-4F74-D59781170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590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5C093-3C4F-E89C-E945-60186024C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9C3DE-0DB4-1954-9C67-12EF534C5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F6D93-DC93-6AA7-6C56-0C42579CE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29CA66-E024-AA0C-F3AC-7F5B51E903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D72F64F-FF36-8570-77C9-DF2FFDDD5E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CEA6FC-1AE8-340C-46A6-393CC5979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94A5C3-E4F5-C358-0B37-7661AE545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BAFAD6-E87D-4B7D-D9C8-272EB35D9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790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38C5-2BDC-866F-3EF2-AC1481914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9879FC-BFDE-B4A2-F13A-E70BC639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E7807-B34D-748F-3F58-BDB3ADE64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7A0F22-29B1-6CEF-B83D-9991E1D9D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2392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8538C5-FBA0-5C25-0465-B7A2B54A7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86053B-47C1-AC70-44D0-50A6C3875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E93E1B-14A1-93B5-D289-4266CA89E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202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84673-5C7E-A901-97A7-5DC5BB609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63D15-E385-C951-81BE-0896DA829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0F9D5E-E8AB-4EA3-EC95-E22D66342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A462A-23FE-DF6C-881B-321B4215A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73562-900D-1C82-39A8-1AF158F94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27FF-7871-4554-986C-BA92CFF43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355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97C2A9-CA1D-7EB0-DAB7-9E15CACB6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C6C387-387D-460F-F562-76E06411EB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0DB40-E547-B9B1-A880-F11DD5225C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05034-A561-D9A8-9302-562767DCD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8C285-0EAC-0E76-A79C-A36B2C9A2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9071B9-3979-D996-82E4-0D3C6E198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504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F1277-38A4-3542-6ACA-405EBC9F7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9FEC9-7913-3BA6-1367-546BFF5504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B43B6E-D146-D446-12C6-2B92D0AD6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F40F2-FDD6-FA13-4159-1AC6F91937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F7358-4E45-E3DF-99FC-9489EBEDE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5984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5275B8-3948-4D92-D5D5-25B6910A9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1A61F1-7792-7BCB-EAF7-B16C46CCD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EB8EF-1E34-5163-C77D-27D2B175D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11F19-FBD9-FF99-6284-E17ABB3C1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ED7D2-9885-0739-DD15-AA717CD81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141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5248C0-30CE-B8ED-FD75-83477C8C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68F45A-15CA-B53D-AB0C-8C6FB2BB3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B2649-1316-21F2-A5B1-8CF8C5EDB3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126E1-BED8-2C83-9827-4880E2B538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E33BA-EE9F-2A39-D4A1-A2B30B0B22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8350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A62313-339B-95D3-FCF5-4814AAA9B5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5031" y="1380754"/>
            <a:ext cx="5561938" cy="2513516"/>
          </a:xfrm>
        </p:spPr>
        <p:txBody>
          <a:bodyPr>
            <a:normAutofit/>
          </a:bodyPr>
          <a:lstStyle/>
          <a:p>
            <a:r>
              <a:rPr lang="en-US"/>
              <a:t>PSY420M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FE4DB0-27D8-893B-F0DC-D39F2819C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15031" y="4076802"/>
            <a:ext cx="5561938" cy="1534587"/>
          </a:xfrm>
        </p:spPr>
        <p:txBody>
          <a:bodyPr>
            <a:normAutofit/>
          </a:bodyPr>
          <a:lstStyle/>
          <a:p>
            <a:r>
              <a:rPr lang="en-US" dirty="0"/>
              <a:t>Advanced Data Analysis and Methods for the Behavioral Sciences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6170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00995" y="5310973"/>
            <a:ext cx="705948" cy="686798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74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6B332A4-D438-4773-A77F-5ED49A44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53768" y="0"/>
            <a:ext cx="8284464" cy="6858000"/>
          </a:xfrm>
          <a:custGeom>
            <a:avLst/>
            <a:gdLst>
              <a:gd name="connsiteX0" fmla="*/ 1818109 w 8284464"/>
              <a:gd name="connsiteY0" fmla="*/ 0 h 6858000"/>
              <a:gd name="connsiteX1" fmla="*/ 6466355 w 8284464"/>
              <a:gd name="connsiteY1" fmla="*/ 0 h 6858000"/>
              <a:gd name="connsiteX2" fmla="*/ 6620596 w 8284464"/>
              <a:gd name="connsiteY2" fmla="*/ 109683 h 6858000"/>
              <a:gd name="connsiteX3" fmla="*/ 8284464 w 8284464"/>
              <a:gd name="connsiteY3" fmla="*/ 3429000 h 6858000"/>
              <a:gd name="connsiteX4" fmla="*/ 6620596 w 8284464"/>
              <a:gd name="connsiteY4" fmla="*/ 6748318 h 6858000"/>
              <a:gd name="connsiteX5" fmla="*/ 6466355 w 8284464"/>
              <a:gd name="connsiteY5" fmla="*/ 6858000 h 6858000"/>
              <a:gd name="connsiteX6" fmla="*/ 1818109 w 8284464"/>
              <a:gd name="connsiteY6" fmla="*/ 6858000 h 6858000"/>
              <a:gd name="connsiteX7" fmla="*/ 1663869 w 8284464"/>
              <a:gd name="connsiteY7" fmla="*/ 6748318 h 6858000"/>
              <a:gd name="connsiteX8" fmla="*/ 0 w 8284464"/>
              <a:gd name="connsiteY8" fmla="*/ 3429000 h 6858000"/>
              <a:gd name="connsiteX9" fmla="*/ 1663869 w 8284464"/>
              <a:gd name="connsiteY9" fmla="*/ 10968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84464" h="6858000">
                <a:moveTo>
                  <a:pt x="1818109" y="0"/>
                </a:moveTo>
                <a:lnTo>
                  <a:pt x="6466355" y="0"/>
                </a:lnTo>
                <a:lnTo>
                  <a:pt x="6620596" y="109683"/>
                </a:lnTo>
                <a:cubicBezTo>
                  <a:pt x="7630666" y="865069"/>
                  <a:pt x="8284464" y="2070683"/>
                  <a:pt x="8284464" y="3429000"/>
                </a:cubicBezTo>
                <a:cubicBezTo>
                  <a:pt x="8284464" y="4787317"/>
                  <a:pt x="7630666" y="5992931"/>
                  <a:pt x="6620596" y="6748318"/>
                </a:cubicBezTo>
                <a:lnTo>
                  <a:pt x="6466355" y="6858000"/>
                </a:lnTo>
                <a:lnTo>
                  <a:pt x="1818109" y="6858000"/>
                </a:lnTo>
                <a:lnTo>
                  <a:pt x="1663869" y="6748318"/>
                </a:lnTo>
                <a:cubicBezTo>
                  <a:pt x="653798" y="5992931"/>
                  <a:pt x="0" y="4787317"/>
                  <a:pt x="0" y="3429000"/>
                </a:cubicBezTo>
                <a:cubicBezTo>
                  <a:pt x="0" y="2070683"/>
                  <a:pt x="653798" y="865069"/>
                  <a:pt x="1663869" y="10968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F9AD32D-FF05-44F4-BD4D-9CEE89B71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8360" y="0"/>
            <a:ext cx="7955280" cy="6858000"/>
          </a:xfrm>
          <a:custGeom>
            <a:avLst/>
            <a:gdLst>
              <a:gd name="connsiteX0" fmla="*/ 1962423 w 7955280"/>
              <a:gd name="connsiteY0" fmla="*/ 0 h 6858000"/>
              <a:gd name="connsiteX1" fmla="*/ 5992858 w 7955280"/>
              <a:gd name="connsiteY1" fmla="*/ 0 h 6858000"/>
              <a:gd name="connsiteX2" fmla="*/ 6040191 w 7955280"/>
              <a:gd name="connsiteY2" fmla="*/ 27216 h 6858000"/>
              <a:gd name="connsiteX3" fmla="*/ 7955280 w 7955280"/>
              <a:gd name="connsiteY3" fmla="*/ 3429000 h 6858000"/>
              <a:gd name="connsiteX4" fmla="*/ 6040191 w 7955280"/>
              <a:gd name="connsiteY4" fmla="*/ 6830784 h 6858000"/>
              <a:gd name="connsiteX5" fmla="*/ 5992858 w 7955280"/>
              <a:gd name="connsiteY5" fmla="*/ 6858000 h 6858000"/>
              <a:gd name="connsiteX6" fmla="*/ 1962423 w 7955280"/>
              <a:gd name="connsiteY6" fmla="*/ 6858000 h 6858000"/>
              <a:gd name="connsiteX7" fmla="*/ 1915089 w 7955280"/>
              <a:gd name="connsiteY7" fmla="*/ 6830784 h 6858000"/>
              <a:gd name="connsiteX8" fmla="*/ 0 w 7955280"/>
              <a:gd name="connsiteY8" fmla="*/ 3429000 h 6858000"/>
              <a:gd name="connsiteX9" fmla="*/ 1915089 w 7955280"/>
              <a:gd name="connsiteY9" fmla="*/ 27216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955280" h="6858000">
                <a:moveTo>
                  <a:pt x="1962423" y="0"/>
                </a:moveTo>
                <a:lnTo>
                  <a:pt x="5992858" y="0"/>
                </a:lnTo>
                <a:lnTo>
                  <a:pt x="6040191" y="27216"/>
                </a:lnTo>
                <a:cubicBezTo>
                  <a:pt x="7188332" y="724844"/>
                  <a:pt x="7955280" y="1987357"/>
                  <a:pt x="7955280" y="3429000"/>
                </a:cubicBezTo>
                <a:cubicBezTo>
                  <a:pt x="7955280" y="4870644"/>
                  <a:pt x="7188332" y="6133157"/>
                  <a:pt x="6040191" y="6830784"/>
                </a:cubicBezTo>
                <a:lnTo>
                  <a:pt x="5992858" y="6858000"/>
                </a:lnTo>
                <a:lnTo>
                  <a:pt x="1962423" y="6858000"/>
                </a:lnTo>
                <a:lnTo>
                  <a:pt x="1915089" y="6830784"/>
                </a:lnTo>
                <a:cubicBezTo>
                  <a:pt x="766948" y="6133157"/>
                  <a:pt x="0" y="4870644"/>
                  <a:pt x="0" y="3429000"/>
                </a:cubicBezTo>
                <a:cubicBezTo>
                  <a:pt x="0" y="1987357"/>
                  <a:pt x="766948" y="724844"/>
                  <a:pt x="1915089" y="27216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BE88B-AE27-9E1A-E3A2-05A290BC0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631" y="1441938"/>
            <a:ext cx="7080738" cy="39741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Attendance!</a:t>
            </a:r>
          </a:p>
        </p:txBody>
      </p:sp>
    </p:spTree>
    <p:extLst>
      <p:ext uri="{BB962C8B-B14F-4D97-AF65-F5344CB8AC3E}">
        <p14:creationId xmlns:p14="http://schemas.microsoft.com/office/powerpoint/2010/main" val="42596536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5E4C11-CD8D-69CE-14D2-9B63639C3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54ADE-5CD3-41B4-489F-E98C367DA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1075464"/>
            <a:ext cx="6906491" cy="490864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2000" dirty="0"/>
              <a:t>In this lab, we’ll look at the social approaches vs. hormone data that we saw in the videos.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We will</a:t>
            </a:r>
          </a:p>
          <a:p>
            <a:r>
              <a:rPr lang="en-US" sz="2000" dirty="0"/>
              <a:t>Visualize the samples – frequency polygons and/or boxplots</a:t>
            </a:r>
          </a:p>
          <a:p>
            <a:r>
              <a:rPr lang="en-US" sz="2000" dirty="0"/>
              <a:t>Visualize the sampling distributions – means and 95% CIs</a:t>
            </a:r>
          </a:p>
          <a:p>
            <a:r>
              <a:rPr lang="en-US" sz="2000" dirty="0"/>
              <a:t>Compare oxy vs. estrogen (with a plot and t-test)</a:t>
            </a:r>
          </a:p>
          <a:p>
            <a:r>
              <a:rPr lang="en-US" sz="2000" dirty="0"/>
              <a:t>Compare treatment vs. control</a:t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8390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CF5F-5834-323D-C658-2AD753F7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453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You should submit a lab report including the following:</a:t>
            </a:r>
          </a:p>
          <a:p>
            <a:pPr marL="0" indent="0">
              <a:buNone/>
            </a:pPr>
            <a:br>
              <a:rPr lang="en-US" sz="1600" dirty="0"/>
            </a:br>
            <a:r>
              <a:rPr lang="en-US" sz="2200" dirty="0"/>
              <a:t>• A graph of the distributions for each sample (boxplot and/or frequency polygon)</a:t>
            </a:r>
          </a:p>
          <a:p>
            <a:pPr marL="0" indent="0">
              <a:buNone/>
            </a:pPr>
            <a:r>
              <a:rPr lang="en-US" sz="2200" dirty="0"/>
              <a:t>• A graph of means &amp; 95% CIs for each of the 4 groups </a:t>
            </a:r>
          </a:p>
          <a:p>
            <a:pPr marL="0" indent="0">
              <a:buNone/>
            </a:pPr>
            <a:r>
              <a:rPr lang="en-US" sz="2200" dirty="0"/>
              <a:t>• A graph and t-test summary comparing estrogen and oxy</a:t>
            </a:r>
          </a:p>
          <a:p>
            <a:pPr marL="0" indent="0">
              <a:buNone/>
            </a:pPr>
            <a:r>
              <a:rPr lang="en-US" sz="2200" dirty="0"/>
              <a:t>• A graph and t-test summary comparing treatment and control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B3FEAC-DD91-2AC0-6E63-190AC433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Summary of deliverables?</a:t>
            </a:r>
          </a:p>
        </p:txBody>
      </p:sp>
    </p:spTree>
    <p:extLst>
      <p:ext uri="{BB962C8B-B14F-4D97-AF65-F5344CB8AC3E}">
        <p14:creationId xmlns:p14="http://schemas.microsoft.com/office/powerpoint/2010/main" val="31947228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080BA-7ADE-5D21-B6C7-E3D9438F0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Rstudio</a:t>
            </a:r>
            <a:r>
              <a:rPr lang="en-US" dirty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BE940-45B3-8B30-F34D-7F6E8363E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4" y="1526033"/>
            <a:ext cx="4977614" cy="3935281"/>
          </a:xfrm>
        </p:spPr>
        <p:txBody>
          <a:bodyPr>
            <a:normAutofit/>
          </a:bodyPr>
          <a:lstStyle/>
          <a:p>
            <a:r>
              <a:rPr lang="en-US" sz="2400" dirty="0"/>
              <a:t>Make a lab 11 folder on your system</a:t>
            </a:r>
          </a:p>
          <a:p>
            <a:r>
              <a:rPr lang="en-US" sz="2400" dirty="0"/>
              <a:t>Get the .csv file from canvas called 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”</a:t>
            </a:r>
            <a:r>
              <a:rPr lang="en-US" sz="2400" b="1" dirty="0" err="1">
                <a:solidFill>
                  <a:schemeClr val="accent4">
                    <a:lumMod val="75000"/>
                  </a:schemeClr>
                </a:solidFill>
              </a:rPr>
              <a:t>hormoneData.csv</a:t>
            </a:r>
            <a:r>
              <a:rPr lang="en-US" sz="2400" b="1" dirty="0">
                <a:solidFill>
                  <a:schemeClr val="accent4">
                    <a:lumMod val="75000"/>
                  </a:schemeClr>
                </a:solidFill>
              </a:rPr>
              <a:t>".</a:t>
            </a:r>
          </a:p>
          <a:p>
            <a:r>
              <a:rPr lang="en-US" sz="2400" dirty="0"/>
              <a:t>Put it into this folder.</a:t>
            </a:r>
          </a:p>
          <a:p>
            <a:r>
              <a:rPr lang="en-US" sz="2400" dirty="0"/>
              <a:t>Make a new project called lab 13 and create it in your new lab13 folder</a:t>
            </a:r>
          </a:p>
        </p:txBody>
      </p:sp>
    </p:spTree>
    <p:extLst>
      <p:ext uri="{BB962C8B-B14F-4D97-AF65-F5344CB8AC3E}">
        <p14:creationId xmlns:p14="http://schemas.microsoft.com/office/powerpoint/2010/main" val="2680701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CF5F-5834-323D-C658-2AD753F7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039" y="1420448"/>
            <a:ext cx="10859921" cy="4354710"/>
          </a:xfrm>
        </p:spPr>
        <p:txBody>
          <a:bodyPr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dirty="0"/>
              <a:t>1.</a:t>
            </a:r>
            <a:r>
              <a:rPr lang="en-US" sz="2200" b="0" i="0" dirty="0">
                <a:effectLst/>
              </a:rPr>
              <a:t> First things first, as always, we’ll load the </a:t>
            </a:r>
            <a:r>
              <a:rPr lang="en-US" sz="2200" b="0" i="0" dirty="0" err="1">
                <a:effectLst/>
              </a:rPr>
              <a:t>tidyverse</a:t>
            </a:r>
            <a:endParaRPr lang="en-US" sz="22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2000" b="0" i="0" dirty="0">
                <a:effectLst/>
                <a:latin typeface="Courier New" panose="02070309020205020404" pitchFamily="49" charset="0"/>
              </a:rPr>
              <a:t>library(</a:t>
            </a:r>
            <a:r>
              <a:rPr lang="en-US" sz="2000" b="0" i="0" dirty="0" err="1">
                <a:effectLst/>
                <a:latin typeface="Courier New" panose="02070309020205020404" pitchFamily="49" charset="0"/>
              </a:rPr>
              <a:t>tidyverse</a:t>
            </a:r>
            <a:r>
              <a:rPr lang="en-US" sz="2000" b="0" i="0" dirty="0">
                <a:effectLst/>
                <a:latin typeface="Courier New" panose="02070309020205020404" pitchFamily="49" charset="0"/>
              </a:rPr>
              <a:t>)</a:t>
            </a:r>
            <a:br>
              <a:rPr lang="en-US" sz="3800" dirty="0">
                <a:latin typeface="Courier New" panose="02070309020205020404" pitchFamily="49" charset="0"/>
              </a:rPr>
            </a:br>
            <a:endParaRPr lang="en-US" sz="3800" dirty="0">
              <a:latin typeface="Courier New" panose="02070309020205020404" pitchFamily="49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/>
              <a:t>2. </a:t>
            </a:r>
            <a:r>
              <a:rPr lang="en-US" sz="2000" b="0" i="0" dirty="0">
                <a:effectLst/>
              </a:rPr>
              <a:t>Load the data</a:t>
            </a:r>
            <a:br>
              <a:rPr lang="en-US" sz="1600" dirty="0"/>
            </a:br>
            <a:r>
              <a:rPr lang="en-US" sz="2100" dirty="0" err="1">
                <a:latin typeface="Courier New" panose="02070309020205020404" pitchFamily="49" charset="0"/>
              </a:rPr>
              <a:t>dat</a:t>
            </a:r>
            <a:r>
              <a:rPr lang="en-US" sz="2100" dirty="0">
                <a:latin typeface="Courier New" panose="02070309020205020404" pitchFamily="49" charset="0"/>
              </a:rPr>
              <a:t>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&lt;-</a:t>
            </a:r>
            <a:r>
              <a:rPr lang="en-US" sz="2100" dirty="0">
                <a:latin typeface="Courier New" panose="02070309020205020404" pitchFamily="49" charset="0"/>
              </a:rPr>
              <a:t> </a:t>
            </a:r>
            <a:r>
              <a:rPr lang="en-US" sz="2100" dirty="0" err="1">
                <a:latin typeface="Courier New" panose="02070309020205020404" pitchFamily="49" charset="0"/>
              </a:rPr>
              <a:t>read_csv</a:t>
            </a:r>
            <a:r>
              <a:rPr lang="en-US" sz="2100" dirty="0">
                <a:latin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”</a:t>
            </a:r>
            <a:r>
              <a:rPr lang="en-US" sz="2000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hormoneData.csv</a:t>
            </a:r>
            <a:r>
              <a:rPr lang="en-US" sz="2000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609603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899D2-7E93-FB42-C08B-1B69019C0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the frequency polygon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7CF9A-7E39-38A0-8BA6-547F949DF6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 err="1">
                <a:effectLst/>
                <a:latin typeface="Courier New" panose="02070309020205020404" pitchFamily="49" charset="0"/>
              </a:rPr>
              <a:t>ggplot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dat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aes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x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= approaches,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color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= hormone)) +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geom_freqpoly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accent4">
                    <a:lumMod val="75000"/>
                  </a:schemeClr>
                </a:solidFill>
                <a:latin typeface="Courier New" panose="02070309020205020404" pitchFamily="49" charset="0"/>
              </a:rPr>
              <a:t>binwidth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= 0.5)</a:t>
            </a:r>
          </a:p>
          <a:p>
            <a:endParaRPr lang="en-US" dirty="0">
              <a:latin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</a:rPr>
              <a:t>The default bins are too narrow! Tweak it to make it look prettier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2240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6FEFE-2BD6-5EF2-E693-68EFBC43D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boxplot too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6FB5F-E79D-BF81-EB21-76E30EC17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Challenge: Can you remember how to do this?</a:t>
            </a:r>
          </a:p>
          <a:p>
            <a:pPr lvl="1"/>
            <a:r>
              <a:rPr lang="en-US" dirty="0"/>
              <a:t>Make sure to add jittered points</a:t>
            </a:r>
          </a:p>
          <a:p>
            <a:pPr lvl="1"/>
            <a:r>
              <a:rPr lang="en-US" dirty="0"/>
              <a:t>Add some color for extra flair</a:t>
            </a:r>
          </a:p>
          <a:p>
            <a:pPr lvl="1"/>
            <a:r>
              <a:rPr lang="en-US" dirty="0"/>
              <a:t>Play around with jittering the points horizontally, and experiment with size, color, and transparency until you get a plot that looks good to you</a:t>
            </a:r>
          </a:p>
        </p:txBody>
      </p:sp>
    </p:spTree>
    <p:extLst>
      <p:ext uri="{BB962C8B-B14F-4D97-AF65-F5344CB8AC3E}">
        <p14:creationId xmlns:p14="http://schemas.microsoft.com/office/powerpoint/2010/main" val="3605963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0C36-A138-56FA-B230-BDCD257DA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new variable for treatment vs.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32530D-8350-BE3C-F6E4-BAFA1BBB3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Courier New" panose="02070309020205020404" pitchFamily="49" charset="0"/>
              </a:rPr>
              <a:t>dat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&lt;- mutate(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dat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, treat =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case_when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		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hormone == "V" ~ "Control",</a:t>
            </a:r>
            <a:br>
              <a:rPr lang="en-US" dirty="0"/>
            </a:br>
            <a:r>
              <a:rPr lang="en-US" dirty="0"/>
              <a:t>		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hormone == "E" ~ "Treatment",</a:t>
            </a:r>
            <a:br>
              <a:rPr lang="en-US" dirty="0"/>
            </a:br>
            <a:r>
              <a:rPr lang="en-US" dirty="0"/>
              <a:t>		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hormone == "O" ~ "Treatment",</a:t>
            </a:r>
            <a:br>
              <a:rPr lang="en-US" dirty="0"/>
            </a:br>
            <a:r>
              <a:rPr lang="en-US" dirty="0"/>
              <a:t>		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hormone == "P" ~ "Treatment"))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370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38AD7-1A6B-882C-094A-CAEF42C8E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new summary table and plot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B4D957-C964-AD2D-6107-3F55AF326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0" i="0" dirty="0" err="1">
                <a:effectLst/>
                <a:latin typeface="Courier New" panose="02070309020205020404" pitchFamily="49" charset="0"/>
              </a:rPr>
              <a:t>tVsCSum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&lt;-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dat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%&gt;%</a:t>
            </a:r>
            <a:br>
              <a:rPr lang="en-US" dirty="0"/>
            </a:br>
            <a:r>
              <a:rPr lang="en-US" dirty="0"/>
              <a:t>		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group_by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(treat) %&gt;%</a:t>
            </a:r>
            <a:br>
              <a:rPr lang="en-US" dirty="0"/>
            </a:br>
            <a:r>
              <a:rPr lang="en-US" dirty="0"/>
              <a:t>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summarize(</a:t>
            </a:r>
            <a:br>
              <a:rPr lang="en-US" dirty="0"/>
            </a:br>
            <a:r>
              <a:rPr lang="en-US" dirty="0"/>
              <a:t>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counts = n(),</a:t>
            </a:r>
            <a:br>
              <a:rPr lang="en-US" dirty="0"/>
            </a:br>
            <a:r>
              <a:rPr lang="en-US" dirty="0"/>
              <a:t>		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means = mean(approaches),</a:t>
            </a:r>
            <a:br>
              <a:rPr lang="en-US" dirty="0"/>
            </a:br>
            <a:r>
              <a:rPr lang="en-US" dirty="0"/>
              <a:t>		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sds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sd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(approaches))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b="0" i="0" dirty="0" err="1">
                <a:effectLst/>
                <a:latin typeface="Courier New" panose="02070309020205020404" pitchFamily="49" charset="0"/>
              </a:rPr>
              <a:t>tVsCSum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&lt;- mutate(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tVsCSum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,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ses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= 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sds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/sqrt(counts))</a:t>
            </a:r>
            <a:br>
              <a:rPr lang="en-US" dirty="0"/>
            </a:br>
            <a:r>
              <a:rPr lang="en-US" b="0" i="0" dirty="0" err="1">
                <a:effectLst/>
                <a:latin typeface="Courier New" panose="02070309020205020404" pitchFamily="49" charset="0"/>
              </a:rPr>
              <a:t>tVsCSum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&lt;- mutate(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tVsCSum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, cis = 1.96*</a:t>
            </a:r>
            <a:r>
              <a:rPr lang="en-US" b="0" i="0" dirty="0" err="1">
                <a:effectLst/>
                <a:latin typeface="Courier New" panose="02070309020205020404" pitchFamily="49" charset="0"/>
              </a:rPr>
              <a:t>ses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)</a:t>
            </a:r>
          </a:p>
          <a:p>
            <a:pPr marL="0" indent="0">
              <a:buNone/>
            </a:pPr>
            <a:endParaRPr lang="en-US" dirty="0"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Then plot the means and CIs!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941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F24F-1E2E-3051-D7B5-5FD4FBDF9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we make a plot just for E and 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CF42C-833F-3CB0-B77D-D880D2C22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Courier New" panose="02070309020205020404" pitchFamily="49" charset="0"/>
              </a:rPr>
              <a:t>Challenge: Can you make a summary table of means containing just E and O hormones?</a:t>
            </a:r>
          </a:p>
          <a:p>
            <a:pPr lvl="1"/>
            <a:r>
              <a:rPr lang="en-US" dirty="0">
                <a:latin typeface="Courier New" panose="02070309020205020404" pitchFamily="49" charset="0"/>
              </a:rPr>
              <a:t>(We can start off using filter, as below)</a:t>
            </a:r>
            <a:endParaRPr lang="en-US" b="0" i="0" dirty="0">
              <a:effectLst/>
              <a:latin typeface="Courier New" panose="02070309020205020404" pitchFamily="49" charset="0"/>
            </a:endParaRPr>
          </a:p>
          <a:p>
            <a:r>
              <a:rPr lang="en-US" b="0" i="0" dirty="0" err="1">
                <a:effectLst/>
                <a:latin typeface="Courier New" panose="02070309020205020404" pitchFamily="49" charset="0"/>
              </a:rPr>
              <a:t>dat</a:t>
            </a:r>
            <a:r>
              <a:rPr lang="en-US" b="0" i="0" dirty="0">
                <a:effectLst/>
                <a:latin typeface="Courier New" panose="02070309020205020404" pitchFamily="49" charset="0"/>
              </a:rPr>
              <a:t> %&gt;%</a:t>
            </a:r>
            <a:br>
              <a:rPr lang="en-US" dirty="0"/>
            </a:br>
            <a:r>
              <a:rPr lang="en-US" b="0" i="0" dirty="0">
                <a:effectLst/>
                <a:latin typeface="Courier New" panose="02070309020205020404" pitchFamily="49" charset="0"/>
              </a:rPr>
              <a:t>filter(hormone == "E" | hormone == "O") %&gt;% </a:t>
            </a:r>
          </a:p>
          <a:p>
            <a:pPr marL="0" indent="0">
              <a:buNone/>
            </a:pPr>
            <a:r>
              <a:rPr lang="en-US" dirty="0">
                <a:latin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</a:rPr>
              <a:t>group_by</a:t>
            </a:r>
            <a:r>
              <a:rPr lang="en-US" dirty="0">
                <a:latin typeface="Courier New" panose="02070309020205020404" pitchFamily="49" charset="0"/>
              </a:rPr>
              <a:t>(hormone) %&gt;% ...	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From here try to make a mean &amp; 95% CI plot for E and O</a:t>
            </a:r>
          </a:p>
        </p:txBody>
      </p:sp>
    </p:spTree>
    <p:extLst>
      <p:ext uri="{BB962C8B-B14F-4D97-AF65-F5344CB8AC3E}">
        <p14:creationId xmlns:p14="http://schemas.microsoft.com/office/powerpoint/2010/main" val="374600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0CF5F-5834-323D-C658-2AD753F7F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453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/>
              <a:t>You should submit a lab report including the following:</a:t>
            </a:r>
          </a:p>
          <a:p>
            <a:pPr marL="0" indent="0">
              <a:buNone/>
            </a:pPr>
            <a:br>
              <a:rPr lang="en-US" sz="1600" dirty="0"/>
            </a:br>
            <a:r>
              <a:rPr lang="en-US" sz="2200" dirty="0"/>
              <a:t>• A graph of the distributions for each sample (boxplot and/or frequency polygon)</a:t>
            </a:r>
          </a:p>
          <a:p>
            <a:pPr marL="0" indent="0">
              <a:buNone/>
            </a:pPr>
            <a:r>
              <a:rPr lang="en-US" sz="2200" dirty="0"/>
              <a:t>• A graph of means &amp; 95% CIs for each of the 4 groups </a:t>
            </a:r>
          </a:p>
          <a:p>
            <a:pPr marL="0" indent="0">
              <a:buNone/>
            </a:pPr>
            <a:r>
              <a:rPr lang="en-US" sz="2200" dirty="0"/>
              <a:t>• A graph and t-test summary comparing estrogen and oxy</a:t>
            </a:r>
          </a:p>
          <a:p>
            <a:pPr marL="0" indent="0">
              <a:buNone/>
            </a:pPr>
            <a:r>
              <a:rPr lang="en-US" sz="2200" dirty="0"/>
              <a:t>• A graph and t-test summary comparing treatment and control</a:t>
            </a:r>
            <a:br>
              <a:rPr lang="en-US" sz="2200" dirty="0"/>
            </a:br>
            <a:endParaRPr lang="en-US" sz="2200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4B3FEAC-DD91-2AC0-6E63-190AC4333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Summary of deliverables?</a:t>
            </a:r>
          </a:p>
        </p:txBody>
      </p:sp>
    </p:spTree>
    <p:extLst>
      <p:ext uri="{BB962C8B-B14F-4D97-AF65-F5344CB8AC3E}">
        <p14:creationId xmlns:p14="http://schemas.microsoft.com/office/powerpoint/2010/main" val="1526295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42147</TotalTime>
  <Words>720</Words>
  <Application>Microsoft Macintosh PowerPoint</Application>
  <PresentationFormat>Widescreen</PresentationFormat>
  <Paragraphs>66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Courier New</vt:lpstr>
      <vt:lpstr>Lato</vt:lpstr>
      <vt:lpstr>Office Theme</vt:lpstr>
      <vt:lpstr>PSY420M </vt:lpstr>
      <vt:lpstr>Attendance!</vt:lpstr>
      <vt:lpstr>Agenda</vt:lpstr>
      <vt:lpstr>Summary of deliverables?</vt:lpstr>
      <vt:lpstr>Rstudio!</vt:lpstr>
      <vt:lpstr>PowerPoint Presentation</vt:lpstr>
      <vt:lpstr>Let’s make the frequency polygon</vt:lpstr>
      <vt:lpstr>Let’s make a boxplot too</vt:lpstr>
      <vt:lpstr>Make a new variable for treatment vs. control</vt:lpstr>
      <vt:lpstr>Make a new summary table and plot</vt:lpstr>
      <vt:lpstr>Now we make a plot just for E and O </vt:lpstr>
      <vt:lpstr>Summary of deliverables?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PSY420M </dc:title>
  <dc:creator>Agarwal, Monika</dc:creator>
  <cp:lastModifiedBy>Etz, Alexander J</cp:lastModifiedBy>
  <cp:revision>17</cp:revision>
  <dcterms:created xsi:type="dcterms:W3CDTF">2023-08-24T21:33:20Z</dcterms:created>
  <dcterms:modified xsi:type="dcterms:W3CDTF">2024-08-22T00:03:40Z</dcterms:modified>
</cp:coreProperties>
</file>